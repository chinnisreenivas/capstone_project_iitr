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64008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100" b="1">
                <a:solidFill>
                  <a:srgbClr val="9FC0FF"/>
                </a:solidFill>
                <a:latin typeface="Aptos"/>
              </a:defRPr>
            </a:pPr>
            <a:r>
              <a:t>CAPSTONE PROJECT |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680960" cy="1234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CloudServe Support</a:t>
            </a:r>
            <a:br/>
            <a: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6858000" cy="777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800" b="0">
                <a:solidFill>
                  <a:srgbClr val="DAE5F8"/>
                </a:solidFill>
                <a:latin typeface="Aptos"/>
              </a:defRPr>
            </a:pPr>
            <a:r>
              <a:t>AI-assisted ticket classification, documentation retrieval,</a:t>
            </a:r>
            <a:br/>
            <a:r>
              <a:t>and safe routing for customer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64008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Presented by: Bhavana Komaravathi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5486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100" b="0">
                <a:solidFill>
                  <a:srgbClr val="9FC0FF"/>
                </a:solidFill>
                <a:latin typeface="Aptos"/>
              </a:defRPr>
            </a:pPr>
            <a:r>
              <a:t>Capstone demo • November 2026</a:t>
            </a:r>
          </a:p>
        </p:txBody>
      </p:sp>
      <p:sp>
        <p:nvSpPr>
          <p:cNvPr id="7" name="Oval 6"/>
          <p:cNvSpPr/>
          <p:nvPr/>
        </p:nvSpPr>
        <p:spPr>
          <a:xfrm>
            <a:off x="8961120" y="548640"/>
            <a:ext cx="1920240" cy="1920240"/>
          </a:xfrm>
          <a:prstGeom prst="ellipse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66960" y="1828800"/>
            <a:ext cx="1234440" cy="1234440"/>
          </a:xfrm>
          <a:prstGeom prst="ellipse">
            <a:avLst/>
          </a:prstGeom>
          <a:solidFill>
            <a:srgbClr val="3D7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0" y="3383280"/>
            <a:ext cx="914400" cy="914400"/>
          </a:xfrm>
          <a:prstGeom prst="ellipse">
            <a:avLst/>
          </a:prstGeom>
          <a:solidFill>
            <a:srgbClr val="2C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A walkthrough from discovery to demonstration and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01  Problem &amp;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91640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Support workload, customer friction, and interview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02  Solution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32888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Architecture, ticket flow, and safety-first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03  Live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74136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Submit a ticket and inspect classification, retrieval, and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15384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04 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215384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Tests, dataset runs, metrics, and limitations.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56632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05 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5056632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Improvements and production-readiness considerations.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02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Why support automation?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Support teams need consistent triage without sacrificing customer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64008" cy="1609344"/>
          </a:xfrm>
          <a:prstGeom prst="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632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High request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44952" cy="11704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Requests arrive through multiple channels and vary in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38528"/>
            <a:ext cx="64008" cy="1609344"/>
          </a:xfrm>
          <a:prstGeom prst="rect">
            <a:avLst/>
          </a:prstGeom>
          <a:solidFill>
            <a:srgbClr val="598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Slow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1704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Agents must identify intent, urgency, and relevant documentation.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938528"/>
            <a:ext cx="64008" cy="1609344"/>
          </a:xfrm>
          <a:prstGeom prst="rect">
            <a:avLst/>
          </a:prstGeom>
          <a:solidFill>
            <a:srgbClr val="B87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93392"/>
            <a:ext cx="30632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Risky replies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95728"/>
            <a:ext cx="3044952" cy="11704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Low-evidence or sensitive cases should not be answered automatically.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1">
                <a:solidFill>
                  <a:srgbClr val="2764E7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10424160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200" b="1">
                <a:solidFill>
                  <a:srgbClr val="142D53"/>
                </a:solidFill>
                <a:latin typeface="Aptos"/>
              </a:defRPr>
            </a:pPr>
            <a:r>
              <a:t>Normalize tickets, predict intent, retrieve relevant guidance, apply guardrails, and escalate uncertain cases to a human.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03 •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Start from stakeholder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The project brief requires the provided stakeholder interview transcripts to guide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64008" cy="1700784"/>
          </a:xfrm>
          <a:prstGeom prst="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0896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Review transcripts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90672" cy="12618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Extract pain points, goals, current workarounds, and examples of risky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38528"/>
            <a:ext cx="64008" cy="1700784"/>
          </a:xfrm>
          <a:prstGeom prst="rect">
            <a:avLst/>
          </a:prstGeom>
          <a:solidFill>
            <a:srgbClr val="189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Convert to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90672" cy="12618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Map evidenced needs to functional requirements and acceptance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1938528"/>
            <a:ext cx="64008" cy="1700784"/>
          </a:xfrm>
          <a:prstGeom prst="rect">
            <a:avLst/>
          </a:prstGeom>
          <a:solidFill>
            <a:srgbClr val="B87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993392"/>
            <a:ext cx="310896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Validate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95728"/>
            <a:ext cx="3090672" cy="12618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0">
                <a:solidFill>
                  <a:srgbClr val="697C96"/>
                </a:solidFill>
                <a:latin typeface="Aptos"/>
              </a:defRPr>
            </a:pPr>
            <a:r>
              <a:t>Separate transcript evidence from assumptions and open questions.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EBF3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04 •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Core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Capabilities implemented in the capstone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960120" cy="43891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868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2764E7"/>
                </a:solidFill>
                <a:latin typeface="Aptos"/>
              </a:defRPr>
            </a:pPr>
            <a:r>
              <a:t>FR-01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91640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Normalize ticket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64922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Normalize channel, subject, body, and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32888"/>
            <a:ext cx="960120" cy="43891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868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2764E7"/>
                </a:solidFill>
                <a:latin typeface="Aptos"/>
              </a:defRPr>
            </a:pPr>
            <a:r>
              <a:t>FR-02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32888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Classify and assess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32888"/>
            <a:ext cx="64922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Return predicted intent, confidence proxy, and urgency.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74136"/>
            <a:ext cx="960120" cy="43891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868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2764E7"/>
                </a:solidFill>
                <a:latin typeface="Aptos"/>
              </a:defRPr>
            </a:pPr>
            <a:r>
              <a:t>FR-03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374136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Retrieve support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74136"/>
            <a:ext cx="64922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Search documentation and retain source identifiers.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15384"/>
            <a:ext cx="960120" cy="43891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06824"/>
            <a:ext cx="868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2764E7"/>
                </a:solidFill>
                <a:latin typeface="Aptos"/>
              </a:defRPr>
            </a:pPr>
            <a:r>
              <a:t>FR-04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15384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Route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64922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Escalate uncertain or sensitive cases; guard automated replies.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56632"/>
            <a:ext cx="960120" cy="43891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148072"/>
            <a:ext cx="868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2764E7"/>
                </a:solidFill>
                <a:latin typeface="Aptos"/>
              </a:defRPr>
            </a:pPr>
            <a:r>
              <a:t>FR-05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056632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Log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56632"/>
            <a:ext cx="64922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Record predictions, sources, routing action, and latency.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05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Modular, explainable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The API orchestrates components and stores decision records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1  Ticket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697480"/>
            <a:ext cx="274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2764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2 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Schema +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697480"/>
            <a:ext cx="274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2764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3  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Intent + 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697480"/>
            <a:ext cx="274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2764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4 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Docs +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3" y="2697480"/>
            <a:ext cx="274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2764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5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5 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Threshold +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697480"/>
            <a:ext cx="274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2764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59" y="2240280"/>
            <a:ext cx="166420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05287" y="2359152"/>
            <a:ext cx="1444752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42D53"/>
                </a:solidFill>
                <a:latin typeface="Aptos"/>
              </a:defRPr>
            </a:pPr>
            <a:r>
              <a:t>6  Respond / escalate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6999" y="2788920"/>
            <a:ext cx="1481328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000" b="0">
                <a:solidFill>
                  <a:srgbClr val="697C96"/>
                </a:solidFill>
                <a:latin typeface="Aptos"/>
              </a:defRPr>
            </a:pPr>
            <a:r>
              <a:t>Guardrails +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4846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1">
                <a:solidFill>
                  <a:srgbClr val="2764E7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Python and FastAPI REST endpoint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Pydantic request validation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Local documentation JSON and JSONL decision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69080"/>
            <a:ext cx="4846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1">
                <a:solidFill>
                  <a:srgbClr val="2764E7"/>
                </a:solidFill>
                <a:latin typeface="Aptos"/>
              </a:defRPr>
            </a:pPr>
            <a:r>
              <a:t>SAFETY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4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Sensitive requests are escalated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Low-confidence predictions are escalated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Guardrails validate response safety and 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06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How a ticket is processed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The routing decision is made before any automated response is returned.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38528"/>
            <a:ext cx="64008" cy="1106424"/>
          </a:xfrm>
          <a:prstGeom prst="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907792" cy="6675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Customer submits channel, subject, and ticket body.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38528"/>
            <a:ext cx="64008" cy="1106424"/>
          </a:xfrm>
          <a:prstGeom prst="rect">
            <a:avLst/>
          </a:prstGeom>
          <a:solidFill>
            <a:srgbClr val="598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95728"/>
            <a:ext cx="2907792" cy="6675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Classifier predicts intent; retriever searches documentation.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938528"/>
            <a:ext cx="64008" cy="1106424"/>
          </a:xfrm>
          <a:prstGeom prst="rect">
            <a:avLst/>
          </a:prstGeom>
          <a:solidFill>
            <a:srgbClr val="189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95728"/>
            <a:ext cx="2907792" cy="6675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Apply confidence threshold, risk rules, and guardrails.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0440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189263"/>
                </a:solidFill>
                <a:latin typeface="Aptos"/>
              </a:defRPr>
            </a:pPr>
            <a:r>
              <a:t>If confidence and evidence are sufficient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520440"/>
            <a:ext cx="3566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200" b="1">
                <a:solidFill>
                  <a:srgbClr val="B87B16"/>
                </a:solidFill>
                <a:latin typeface="Aptos"/>
              </a:defRPr>
            </a:pPr>
            <a:r>
              <a:t>Otherwise or sensitive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51560" y="4087368"/>
            <a:ext cx="64008" cy="923544"/>
          </a:xfrm>
          <a:prstGeom prst="rect">
            <a:avLst/>
          </a:prstGeom>
          <a:solidFill>
            <a:srgbClr val="189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52728" y="4142231"/>
            <a:ext cx="3383279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Auto-response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4544568"/>
            <a:ext cx="3364991" cy="4846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Draft answer with documentation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977639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4087368"/>
            <a:ext cx="64008" cy="923544"/>
          </a:xfrm>
          <a:prstGeom prst="rect">
            <a:avLst/>
          </a:prstGeom>
          <a:solidFill>
            <a:srgbClr val="B87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0648" y="4142231"/>
            <a:ext cx="3383279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Human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4544568"/>
            <a:ext cx="3364991" cy="4846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No automated answer; record reason for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68580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300" b="1">
                <a:solidFill>
                  <a:srgbClr val="697C96"/>
                </a:solidFill>
                <a:latin typeface="Aptos"/>
              </a:defRPr>
            </a:pPr>
            <a:r>
              <a:t>Both paths are logged for evaluation and audit.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07 •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Live demo: form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Use the running webpage and API during the video recording.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8346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1.  Open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737360"/>
            <a:ext cx="68580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http://127.0.0.1:5500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8346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2.  Submit a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560320"/>
            <a:ext cx="68580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Try a password-reset or deployment issue.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8346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3.  Inspect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383280"/>
            <a:ext cx="68580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Show intent, confidence, action, answer, and citations.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28346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4.  Explain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206240"/>
            <a:ext cx="68580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Show uncertain or sensitive cases routed for human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28346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5.  Show API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029200"/>
            <a:ext cx="68580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Open http://127.0.0.1:8000/docs and terminal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08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Testing and evaluation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Harness runs and unit-test results from the local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38528"/>
            <a:ext cx="64008" cy="1380744"/>
          </a:xfrm>
          <a:prstGeom prst="rect">
            <a:avLst/>
          </a:prstGeom>
          <a:solidFill>
            <a:srgbClr val="189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907792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7 tests passed across normalization, retrieval, guardrails, routing, and malformed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38528"/>
            <a:ext cx="64008" cy="1380744"/>
          </a:xfrm>
          <a:prstGeom prst="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Validation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95728"/>
            <a:ext cx="2907792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80 tickets processed by the evaluation harness.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938528"/>
            <a:ext cx="64008" cy="1380744"/>
          </a:xfrm>
          <a:prstGeom prst="rect">
            <a:avLst/>
          </a:prstGeom>
          <a:solidFill>
            <a:srgbClr val="598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993392"/>
            <a:ext cx="292608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Development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95728"/>
            <a:ext cx="2907792" cy="9418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500 tickets processed by the evaluation harness.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2764E7"/>
                </a:solidFill>
                <a:latin typeface="Aptos"/>
              </a:defRPr>
            </a:pPr>
            <a:r>
              <a:t>Generated artifacts in evaluation/results/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validation_tickets_metrics.json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validation_tickets_decisions.jsonl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validation_tickets_results.jsonl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976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development_tickets_metrics.json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development_tickets_decisions.jsonl</a:t>
            </a:r>
          </a:p>
          <a:p>
            <a:pPr>
              <a:spcAft>
                <a:spcPts val="800"/>
              </a:spcAft>
              <a:defRPr sz="1300">
                <a:solidFill>
                  <a:srgbClr val="23344C"/>
                </a:solidFill>
                <a:latin typeface="Aptos"/>
              </a:defRPr>
            </a:pPr>
            <a:r>
              <a:t>•  development_tickets_results.jsonl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10332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1">
                <a:solidFill>
                  <a:srgbClr val="B87B16"/>
                </a:solidFill>
                <a:latin typeface="Aptos"/>
              </a:defRPr>
            </a:pPr>
            <a:r>
              <a:t>Confidence is a heuristic proxy, not a calibrated probability.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09 • CRITICAL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Known limitations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A functioning prototype is not the same as a production-ready support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38528"/>
            <a:ext cx="64008" cy="1517904"/>
          </a:xfrm>
          <a:prstGeom prst="rect">
            <a:avLst/>
          </a:prstGeom>
          <a:solidFill>
            <a:srgbClr val="B87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1752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Classification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999232" cy="10789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Similar intents can be confused; a password-reset test was once classified as data_issue.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38528"/>
            <a:ext cx="64008" cy="1517904"/>
          </a:xfrm>
          <a:prstGeom prst="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1752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Dashboard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2999232" cy="10789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Web metrics are session-only and are not historical database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38528"/>
            <a:ext cx="64008" cy="1517904"/>
          </a:xfrm>
          <a:prstGeom prst="rect">
            <a:avLst/>
          </a:prstGeom>
          <a:solidFill>
            <a:srgbClr val="B8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1752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600" b="1">
                <a:solidFill>
                  <a:srgbClr val="142D53"/>
                </a:solidFill>
                <a:latin typeface="Aptos"/>
              </a:defRPr>
            </a:pPr>
            <a:r>
              <a:t>Production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2999232" cy="10789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Authentication, persistent storage, monitoring, and broader safety testing remain.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400" b="1">
                <a:solidFill>
                  <a:srgbClr val="2764E7"/>
                </a:solidFill>
                <a:latin typeface="Aptos"/>
              </a:defRPr>
            </a:pPr>
            <a:r>
              <a:t>RECOMMENDED IMPROVEMENTS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44C"/>
                </a:solidFill>
                <a:latin typeface="Aptos"/>
              </a:defRPr>
            </a:pPr>
            <a:r>
              <a:t>•  Use stakeholder evidence to refine requirements and test cases.</a:t>
            </a:r>
          </a:p>
          <a:p>
            <a:pPr>
              <a:spcAft>
                <a:spcPts val="800"/>
              </a:spcAft>
              <a:defRPr sz="1400">
                <a:solidFill>
                  <a:srgbClr val="23344C"/>
                </a:solidFill>
                <a:latin typeface="Aptos"/>
              </a:defRPr>
            </a:pPr>
            <a:r>
              <a:t>•  Evaluate per-class precision, recall, and the confusion matrix.</a:t>
            </a:r>
          </a:p>
          <a:p>
            <a:pPr>
              <a:spcAft>
                <a:spcPts val="800"/>
              </a:spcAft>
              <a:defRPr sz="1400">
                <a:solidFill>
                  <a:srgbClr val="23344C"/>
                </a:solidFill>
                <a:latin typeface="Aptos"/>
              </a:defRPr>
            </a:pPr>
            <a:r>
              <a:t>•  Add persistence, human-review workflow, privacy controls, and monitoring before deployment.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1">
                <a:solidFill>
                  <a:srgbClr val="2764E7"/>
                </a:solidFill>
                <a:latin typeface="Aptos"/>
              </a:defRPr>
            </a:pPr>
            <a:r>
              <a:t>10 •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700" b="1">
                <a:solidFill>
                  <a:srgbClr val="142D53"/>
                </a:solidFill>
                <a:latin typeface="Aptos"/>
              </a:defRPr>
            </a:pPr>
            <a:r>
              <a:t>Final submission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200" b="0">
                <a:solidFill>
                  <a:srgbClr val="697C96"/>
                </a:solidFill>
                <a:latin typeface="Aptos"/>
              </a:defRPr>
            </a:pPr>
            <a:r>
              <a:t>The capstone instructions require complete project files and a 20-minute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900" b="1">
                <a:solidFill>
                  <a:srgbClr val="697C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Discovery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691640"/>
            <a:ext cx="722376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Include findings from the actual interview transcripts.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21992"/>
            <a:ext cx="10332720" cy="10972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Final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532888"/>
            <a:ext cx="722376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Align problem, requirements, architecture, tests, results, and limitations.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063240"/>
            <a:ext cx="10332720" cy="10972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6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Demo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74136"/>
            <a:ext cx="722376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Capture clear screenshots and verify clean startup.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04488"/>
            <a:ext cx="10332720" cy="10972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15384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20-minute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215384"/>
            <a:ext cx="722376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Record discovery, design, live demo, evaluation, and future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745736"/>
            <a:ext cx="10332720" cy="10972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056632"/>
            <a:ext cx="274320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500" b="1">
                <a:solidFill>
                  <a:srgbClr val="142D53"/>
                </a:solidFill>
                <a:latin typeface="Aptos"/>
              </a:defRPr>
            </a:pPr>
            <a:r>
              <a:t>Submission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056632"/>
            <a:ext cx="722376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300" b="0">
                <a:solidFill>
                  <a:srgbClr val="697C96"/>
                </a:solidFill>
                <a:latin typeface="Aptos"/>
              </a:defRPr>
            </a:pPr>
            <a:r>
              <a:t>Check source files, report, any required workbooks, video, and filenames.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800" b="1">
                <a:solidFill>
                  <a:srgbClr val="697C96"/>
                </a:solidFill>
                <a:latin typeface="Aptos"/>
              </a:defRPr>
            </a:pPr>
            <a:r>
              <a:t>CLOUDSERVE SUPPORT AUTOMATION • CAPSTONE DEMONSTRATION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100" b="1">
                <a:solidFill>
                  <a:srgbClr val="9FC0FF"/>
                </a:solidFill>
                <a:latin typeface="Aptos"/>
              </a:defRPr>
            </a:pPr>
            <a:r>
              <a:t>CLOUDSERVE SUPPORT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804672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786384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2100" b="0">
                <a:solidFill>
                  <a:srgbClr val="DAE5F8"/>
                </a:solidFill>
                <a:latin typeface="Aptos"/>
              </a:defRPr>
            </a:pPr>
            <a:r>
              <a:t>A practical prototype for faster, more consistent,</a:t>
            </a:r>
            <a:br/>
            <a:r>
              <a:t>and safer customer support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71323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68580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defRPr sz="1000" b="0">
                <a:solidFill>
                  <a:srgbClr val="9FC0FF"/>
                </a:solidFill>
                <a:latin typeface="Aptos"/>
              </a:defRPr>
            </a:pPr>
            <a:r>
              <a:t>Bhavana Komaravathi • Capstone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8778240" y="1097280"/>
            <a:ext cx="1920240" cy="1920240"/>
          </a:xfrm>
          <a:prstGeom prst="ellipse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0" y="2834640"/>
            <a:ext cx="1280160" cy="1280160"/>
          </a:xfrm>
          <a:prstGeom prst="ellipse">
            <a:avLst/>
          </a:prstGeom>
          <a:solidFill>
            <a:srgbClr val="3D7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0" y="3840480"/>
            <a:ext cx="777240" cy="777240"/>
          </a:xfrm>
          <a:prstGeom prst="ellipse">
            <a:avLst/>
          </a:prstGeom>
          <a:solidFill>
            <a:srgbClr val="2C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951</Words>
  <Application>Microsoft Office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CloudServe Support Automation — Capstone Presentation</dc:title>
  <dc:subject>20-minute capstone presentation</dc:subject>
  <dc:creator>Bhavana Komaravathi</dc:creator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2026-10-29T07:03:56Z</dcterms:modified>
  <cp:category/>
</cp:coreProperties>
</file>